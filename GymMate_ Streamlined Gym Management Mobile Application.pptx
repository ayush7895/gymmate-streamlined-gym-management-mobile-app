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oboto"/>
      <p:regular r:id="rId22"/>
      <p:bold r:id="rId23"/>
      <p:italic r:id="rId24"/>
      <p:boldItalic r:id="rId25"/>
    </p:embeddedFont>
    <p:embeddedFont>
      <p:font typeface="Montserrat"/>
      <p:regular r:id="rId26"/>
      <p:bold r:id="rId27"/>
      <p:italic r:id="rId28"/>
      <p:boldItalic r:id="rId29"/>
    </p:embeddedFont>
    <p:embeddedFont>
      <p:font typeface="La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regular.fntdata"/><Relationship Id="rId21" Type="http://schemas.openxmlformats.org/officeDocument/2006/relationships/slide" Target="slides/slide16.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regular.fntdata"/><Relationship Id="rId25" Type="http://schemas.openxmlformats.org/officeDocument/2006/relationships/font" Target="fonts/Roboto-boldItalic.fntdata"/><Relationship Id="rId28" Type="http://schemas.openxmlformats.org/officeDocument/2006/relationships/font" Target="fonts/Montserrat-italic.fntdata"/><Relationship Id="rId27" Type="http://schemas.openxmlformats.org/officeDocument/2006/relationships/font" Target="fonts/Montserrat-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6.xml"/><Relationship Id="rId33" Type="http://schemas.openxmlformats.org/officeDocument/2006/relationships/font" Target="fonts/Lato-boldItalic.fntdata"/><Relationship Id="rId10" Type="http://schemas.openxmlformats.org/officeDocument/2006/relationships/slide" Target="slides/slide5.xml"/><Relationship Id="rId32"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67575b0f1d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67575b0f1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67575b0f1d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67575b0f1d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67575b0f1d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67575b0f1d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67575b0f1d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67575b0f1d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67575b0f1d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67575b0f1d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67575b0f1d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67575b0f1d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67575b0f1d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67575b0f1d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67575b0f1d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67575b0f1d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67575b0f1d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67575b0f1d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67575b0f1d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67575b0f1d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67575b0f1d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67575b0f1d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67575b0f1d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67575b0f1d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67575b0f1d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67575b0f1d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67575b0f1d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67575b0f1d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67575b0f1d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67575b0f1d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fontScale="90000"/>
          </a:bodyPr>
          <a:lstStyle/>
          <a:p>
            <a:pPr indent="0" lvl="0" marL="0" rtl="0" algn="l">
              <a:lnSpc>
                <a:spcPct val="175000"/>
              </a:lnSpc>
              <a:spcBef>
                <a:spcPts val="0"/>
              </a:spcBef>
              <a:spcAft>
                <a:spcPts val="0"/>
              </a:spcAft>
              <a:buClr>
                <a:schemeClr val="dk1"/>
              </a:buClr>
              <a:buSzPct val="27500"/>
              <a:buFont typeface="Arial"/>
              <a:buNone/>
            </a:pPr>
            <a:r>
              <a:rPr lang="en"/>
              <a:t>GymMate: Streamlined Gym Management Mobile Application</a:t>
            </a:r>
            <a:endParaRPr/>
          </a:p>
          <a:p>
            <a:pPr indent="0" lvl="0" marL="0" rtl="0" algn="l">
              <a:lnSpc>
                <a:spcPct val="175000"/>
              </a:lnSpc>
              <a:spcBef>
                <a:spcPts val="0"/>
              </a:spcBef>
              <a:spcAft>
                <a:spcPts val="0"/>
              </a:spcAft>
              <a:buClr>
                <a:schemeClr val="dk1"/>
              </a:buClr>
              <a:buSzPct val="275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5" name="Google Shape;135;p13"/>
          <p:cNvSpPr txBox="1"/>
          <p:nvPr>
            <p:ph idx="1" type="subTitle"/>
          </p:nvPr>
        </p:nvSpPr>
        <p:spPr>
          <a:xfrm>
            <a:off x="5083950" y="4134950"/>
            <a:ext cx="1431300" cy="822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Description :</a:t>
            </a:r>
            <a:endParaRPr/>
          </a:p>
        </p:txBody>
      </p:sp>
      <p:sp>
        <p:nvSpPr>
          <p:cNvPr id="141" name="Google Shape;141;p14"/>
          <p:cNvSpPr txBox="1"/>
          <p:nvPr>
            <p:ph idx="1" type="body"/>
          </p:nvPr>
        </p:nvSpPr>
        <p:spPr>
          <a:xfrm>
            <a:off x="1297500" y="1567550"/>
            <a:ext cx="7038900" cy="2911200"/>
          </a:xfrm>
          <a:prstGeom prst="rect">
            <a:avLst/>
          </a:prstGeom>
          <a:solidFill>
            <a:srgbClr val="B7B7B7"/>
          </a:solidFill>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rgbClr val="374151"/>
                </a:solidFill>
                <a:latin typeface="Roboto"/>
                <a:ea typeface="Roboto"/>
                <a:cs typeface="Roboto"/>
                <a:sym typeface="Roboto"/>
              </a:rPr>
              <a:t>Welcome to the Gym Management Mobile App! 🏋️‍♂️ This app houses the codebase for our innovative mobile application designed to streamline customer management processes for your gym. With features including easy data entry, automated subscription alerts, and seamless communication channels, managing your gym's operations has never been simpler. Stay organized, keep track of payments, and ensure customer satisfaction with our intuitive solution. Let's build a healthier, more efficient gym experience together!</a:t>
            </a:r>
            <a:endParaRPr sz="1200">
              <a:solidFill>
                <a:srgbClr val="374151"/>
              </a:solidFill>
              <a:latin typeface="Roboto"/>
              <a:ea typeface="Roboto"/>
              <a:cs typeface="Roboto"/>
              <a:sym typeface="Roboto"/>
            </a:endParaRPr>
          </a:p>
          <a:p>
            <a:pPr indent="0" lvl="0" marL="0" rtl="0" algn="l">
              <a:spcBef>
                <a:spcPts val="1200"/>
              </a:spcBef>
              <a:spcAft>
                <a:spcPts val="1200"/>
              </a:spcAft>
              <a:buNone/>
            </a:pPr>
            <a:r>
              <a:t/>
            </a:r>
            <a:endParaRPr sz="1200">
              <a:solidFill>
                <a:srgbClr val="37415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detail:</a:t>
            </a:r>
            <a:endParaRPr/>
          </a:p>
        </p:txBody>
      </p:sp>
      <p:sp>
        <p:nvSpPr>
          <p:cNvPr id="147" name="Google Shape;147;p15"/>
          <p:cNvSpPr txBox="1"/>
          <p:nvPr>
            <p:ph idx="1" type="body"/>
          </p:nvPr>
        </p:nvSpPr>
        <p:spPr>
          <a:xfrm>
            <a:off x="1297500" y="1567550"/>
            <a:ext cx="7038900" cy="2911200"/>
          </a:xfrm>
          <a:prstGeom prst="rect">
            <a:avLst/>
          </a:prstGeom>
          <a:solidFill>
            <a:srgbClr val="CCCCCC"/>
          </a:solidFill>
        </p:spPr>
        <p:txBody>
          <a:bodyPr anchorCtr="0" anchor="t" bIns="91425" lIns="91425" spcFirstLastPara="1" rIns="91425" wrap="square" tIns="91425">
            <a:normAutofit fontScale="85000" lnSpcReduction="10000"/>
          </a:bodyPr>
          <a:lstStyle/>
          <a:p>
            <a:pPr indent="0" lvl="0" marL="0" rtl="0" algn="l">
              <a:spcBef>
                <a:spcPts val="1500"/>
              </a:spcBef>
              <a:spcAft>
                <a:spcPts val="0"/>
              </a:spcAft>
              <a:buNone/>
            </a:pPr>
            <a:r>
              <a:rPr lang="en" sz="1200">
                <a:solidFill>
                  <a:srgbClr val="374151"/>
                </a:solidFill>
                <a:latin typeface="Roboto"/>
                <a:ea typeface="Roboto"/>
                <a:cs typeface="Roboto"/>
                <a:sym typeface="Roboto"/>
              </a:rPr>
              <a:t>E</a:t>
            </a:r>
            <a:r>
              <a:rPr lang="en" sz="1200">
                <a:solidFill>
                  <a:srgbClr val="374151"/>
                </a:solidFill>
                <a:latin typeface="Roboto"/>
                <a:ea typeface="Roboto"/>
                <a:cs typeface="Roboto"/>
                <a:sym typeface="Roboto"/>
              </a:rPr>
              <a:t>fficiently</a:t>
            </a:r>
            <a:r>
              <a:rPr lang="en" sz="1200">
                <a:solidFill>
                  <a:srgbClr val="374151"/>
                </a:solidFill>
                <a:latin typeface="Roboto"/>
                <a:ea typeface="Roboto"/>
                <a:cs typeface="Roboto"/>
                <a:sym typeface="Roboto"/>
              </a:rPr>
              <a:t> add, edit, and delete customer records with our user-friendly interface, ensuring accurate and up-to-date information at your fingertips. Stay on top of subscription renewals with timely alerts sent directly to customers via WhatsApp and email. Never miss a payment deadline again, enhancing customer satisfaction and retention.</a:t>
            </a:r>
            <a:endParaRPr sz="1200">
              <a:solidFill>
                <a:srgbClr val="374151"/>
              </a:solidFill>
              <a:latin typeface="Roboto"/>
              <a:ea typeface="Roboto"/>
              <a:cs typeface="Roboto"/>
              <a:sym typeface="Roboto"/>
            </a:endParaRPr>
          </a:p>
          <a:p>
            <a:pPr indent="0" lvl="0" marL="0" rtl="0" algn="l">
              <a:spcBef>
                <a:spcPts val="1500"/>
              </a:spcBef>
              <a:spcAft>
                <a:spcPts val="0"/>
              </a:spcAft>
              <a:buNone/>
            </a:pPr>
            <a:r>
              <a:rPr lang="en" sz="1200">
                <a:solidFill>
                  <a:srgbClr val="374151"/>
                </a:solidFill>
                <a:latin typeface="Roboto"/>
                <a:ea typeface="Roboto"/>
                <a:cs typeface="Roboto"/>
                <a:sym typeface="Roboto"/>
              </a:rPr>
              <a:t>Our app prioritizes simplicity and performance, delivering a responsive experience that meets the demands of your busy gym environment. Securely store customer data and safeguard privacy, adhering to industry best practices for data protection.</a:t>
            </a:r>
            <a:endParaRPr sz="1200">
              <a:solidFill>
                <a:srgbClr val="374151"/>
              </a:solidFill>
              <a:latin typeface="Roboto"/>
              <a:ea typeface="Roboto"/>
              <a:cs typeface="Roboto"/>
              <a:sym typeface="Roboto"/>
            </a:endParaRPr>
          </a:p>
          <a:p>
            <a:pPr indent="0" lvl="0" marL="0" rtl="0" algn="l">
              <a:spcBef>
                <a:spcPts val="1500"/>
              </a:spcBef>
              <a:spcAft>
                <a:spcPts val="0"/>
              </a:spcAft>
              <a:buNone/>
            </a:pPr>
            <a:r>
              <a:rPr lang="en" sz="1200">
                <a:solidFill>
                  <a:srgbClr val="374151"/>
                </a:solidFill>
                <a:latin typeface="Roboto"/>
                <a:ea typeface="Roboto"/>
                <a:cs typeface="Roboto"/>
                <a:sym typeface="Roboto"/>
              </a:rPr>
              <a:t>Looking ahead, our repository serves as a foundation for ongoing enhancements and optimizations. As we continue to innovate, we aim to integrate additional features such as online payment capabilities and advanced reporting functionalities.</a:t>
            </a:r>
            <a:endParaRPr sz="1200">
              <a:solidFill>
                <a:srgbClr val="374151"/>
              </a:solidFill>
              <a:latin typeface="Roboto"/>
              <a:ea typeface="Roboto"/>
              <a:cs typeface="Roboto"/>
              <a:sym typeface="Roboto"/>
            </a:endParaRPr>
          </a:p>
          <a:p>
            <a:pPr indent="0" lvl="0" marL="0" rtl="0" algn="l">
              <a:spcBef>
                <a:spcPts val="1500"/>
              </a:spcBef>
              <a:spcAft>
                <a:spcPts val="0"/>
              </a:spcAft>
              <a:buNone/>
            </a:pPr>
            <a:r>
              <a:rPr lang="en" sz="1200">
                <a:solidFill>
                  <a:srgbClr val="374151"/>
                </a:solidFill>
                <a:latin typeface="Roboto"/>
                <a:ea typeface="Roboto"/>
                <a:cs typeface="Roboto"/>
                <a:sym typeface="Roboto"/>
              </a:rPr>
              <a:t>Join us in building a stronger, more efficient gym management solution. Let's empower your business to thrive in today's dynamic fitness industry. Together, we'll elevate the gym experience for both you and your valued customers. Welcome to the future of gym management!</a:t>
            </a:r>
            <a:endParaRPr sz="1200">
              <a:solidFill>
                <a:srgbClr val="374151"/>
              </a:solidFill>
              <a:latin typeface="Roboto"/>
              <a:ea typeface="Roboto"/>
              <a:cs typeface="Roboto"/>
              <a:sym typeface="Roboto"/>
            </a:endParaRPr>
          </a:p>
          <a:p>
            <a:pPr indent="0" lvl="0" marL="0" rtl="0" algn="l">
              <a:spcBef>
                <a:spcPts val="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 of mobile application:</a:t>
            </a:r>
            <a:endParaRPr/>
          </a:p>
        </p:txBody>
      </p:sp>
      <p:sp>
        <p:nvSpPr>
          <p:cNvPr id="153" name="Google Shape;153;p16"/>
          <p:cNvSpPr txBox="1"/>
          <p:nvPr>
            <p:ph idx="1" type="body"/>
          </p:nvPr>
        </p:nvSpPr>
        <p:spPr>
          <a:xfrm>
            <a:off x="1297500" y="1567550"/>
            <a:ext cx="7038900" cy="2911200"/>
          </a:xfrm>
          <a:prstGeom prst="rect">
            <a:avLst/>
          </a:prstGeom>
          <a:solidFill>
            <a:srgbClr val="CCCCCC"/>
          </a:solidFill>
        </p:spPr>
        <p:txBody>
          <a:bodyPr anchorCtr="0" anchor="t" bIns="91425" lIns="91425" spcFirstLastPara="1" rIns="91425" wrap="square" tIns="91425">
            <a:normAutofit fontScale="85000" lnSpcReduction="10000"/>
          </a:bodyPr>
          <a:lstStyle/>
          <a:p>
            <a:pPr indent="0" lvl="0" marL="0" rtl="0" algn="l">
              <a:spcBef>
                <a:spcPts val="1500"/>
              </a:spcBef>
              <a:spcAft>
                <a:spcPts val="0"/>
              </a:spcAft>
              <a:buNone/>
            </a:pPr>
            <a:r>
              <a:rPr lang="en" sz="1200">
                <a:solidFill>
                  <a:srgbClr val="374151"/>
                </a:solidFill>
                <a:latin typeface="Roboto"/>
                <a:ea typeface="Roboto"/>
                <a:cs typeface="Roboto"/>
                <a:sym typeface="Roboto"/>
              </a:rPr>
              <a:t>This document outlines the business requirements for the development of a mobile application aimed at managing customer data and subscriptions for a gym. The application will facilitate efficient data entry, editing, and deletion of customer information, as well as automate notifications for subscription renewals and expirations.</a:t>
            </a:r>
            <a:endParaRPr sz="1200">
              <a:solidFill>
                <a:srgbClr val="374151"/>
              </a:solidFill>
              <a:latin typeface="Roboto"/>
              <a:ea typeface="Roboto"/>
              <a:cs typeface="Roboto"/>
              <a:sym typeface="Roboto"/>
            </a:endParaRPr>
          </a:p>
          <a:p>
            <a:pPr indent="0" lvl="0" marL="0" rtl="0" algn="l">
              <a:spcBef>
                <a:spcPts val="1500"/>
              </a:spcBef>
              <a:spcAft>
                <a:spcPts val="0"/>
              </a:spcAft>
              <a:buNone/>
            </a:pPr>
            <a:r>
              <a:rPr b="1" lang="en" sz="1200">
                <a:solidFill>
                  <a:srgbClr val="374151"/>
                </a:solidFill>
                <a:latin typeface="Roboto"/>
                <a:ea typeface="Roboto"/>
                <a:cs typeface="Roboto"/>
                <a:sym typeface="Roboto"/>
              </a:rPr>
              <a:t>Purpose </a:t>
            </a:r>
            <a:r>
              <a:rPr lang="en" sz="1200">
                <a:solidFill>
                  <a:srgbClr val="374151"/>
                </a:solidFill>
                <a:latin typeface="Roboto"/>
                <a:ea typeface="Roboto"/>
                <a:cs typeface="Roboto"/>
                <a:sym typeface="Roboto"/>
              </a:rPr>
              <a:t>-</a:t>
            </a:r>
            <a:endParaRPr sz="1200">
              <a:solidFill>
                <a:srgbClr val="374151"/>
              </a:solidFill>
              <a:latin typeface="Roboto"/>
              <a:ea typeface="Roboto"/>
              <a:cs typeface="Roboto"/>
              <a:sym typeface="Roboto"/>
            </a:endParaRPr>
          </a:p>
          <a:p>
            <a:pPr indent="0" lvl="0" marL="0" rtl="0" algn="l">
              <a:spcBef>
                <a:spcPts val="1500"/>
              </a:spcBef>
              <a:spcAft>
                <a:spcPts val="0"/>
              </a:spcAft>
              <a:buNone/>
            </a:pPr>
            <a:r>
              <a:rPr lang="en" sz="1200">
                <a:solidFill>
                  <a:srgbClr val="374151"/>
                </a:solidFill>
                <a:latin typeface="Roboto"/>
                <a:ea typeface="Roboto"/>
                <a:cs typeface="Roboto"/>
                <a:sym typeface="Roboto"/>
              </a:rPr>
              <a:t>The purpose of this mobile application is to streamline customer management processes for the gym, enhance communication with customers regarding subscription renewals and expirations, and ensure timely reminders for payment.</a:t>
            </a:r>
            <a:endParaRPr sz="1200">
              <a:solidFill>
                <a:srgbClr val="374151"/>
              </a:solidFill>
              <a:latin typeface="Roboto"/>
              <a:ea typeface="Roboto"/>
              <a:cs typeface="Roboto"/>
              <a:sym typeface="Roboto"/>
            </a:endParaRPr>
          </a:p>
          <a:p>
            <a:pPr indent="0" lvl="0" marL="0" rtl="0" algn="l">
              <a:spcBef>
                <a:spcPts val="1500"/>
              </a:spcBef>
              <a:spcAft>
                <a:spcPts val="0"/>
              </a:spcAft>
              <a:buNone/>
            </a:pPr>
            <a:r>
              <a:t/>
            </a:r>
            <a:endParaRPr sz="1100">
              <a:solidFill>
                <a:srgbClr val="000000"/>
              </a:solidFill>
              <a:latin typeface="Arial"/>
              <a:ea typeface="Arial"/>
              <a:cs typeface="Arial"/>
              <a:sym typeface="Arial"/>
            </a:endParaRPr>
          </a:p>
          <a:p>
            <a:pPr indent="0" lvl="0" marL="0" rtl="0" algn="l">
              <a:spcBef>
                <a:spcPts val="1500"/>
              </a:spcBef>
              <a:spcAft>
                <a:spcPts val="0"/>
              </a:spcAft>
              <a:buNone/>
            </a:pPr>
            <a:r>
              <a:t/>
            </a:r>
            <a:endParaRPr b="1" sz="1200">
              <a:solidFill>
                <a:srgbClr val="374151"/>
              </a:solidFill>
              <a:latin typeface="Roboto"/>
              <a:ea typeface="Roboto"/>
              <a:cs typeface="Roboto"/>
              <a:sym typeface="Roboto"/>
            </a:endParaRPr>
          </a:p>
          <a:p>
            <a:pPr indent="0" lvl="0" marL="0" rtl="0" algn="l">
              <a:spcBef>
                <a:spcPts val="150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Scope:</a:t>
            </a:r>
            <a:endParaRPr/>
          </a:p>
        </p:txBody>
      </p:sp>
      <p:sp>
        <p:nvSpPr>
          <p:cNvPr id="159" name="Google Shape;159;p17"/>
          <p:cNvSpPr txBox="1"/>
          <p:nvPr>
            <p:ph idx="1" type="body"/>
          </p:nvPr>
        </p:nvSpPr>
        <p:spPr>
          <a:xfrm>
            <a:off x="1297500" y="1567550"/>
            <a:ext cx="7038900" cy="2911200"/>
          </a:xfrm>
          <a:prstGeom prst="rect">
            <a:avLst/>
          </a:prstGeom>
          <a:solidFill>
            <a:srgbClr val="CCCCCC"/>
          </a:solidFill>
        </p:spPr>
        <p:txBody>
          <a:bodyPr anchorCtr="0" anchor="t" bIns="91425" lIns="91425" spcFirstLastPara="1" rIns="91425" wrap="square" tIns="91425">
            <a:normAutofit/>
          </a:bodyPr>
          <a:lstStyle/>
          <a:p>
            <a:pPr indent="0" lvl="0" marL="0" rtl="0" algn="l">
              <a:spcBef>
                <a:spcPts val="1500"/>
              </a:spcBef>
              <a:spcAft>
                <a:spcPts val="0"/>
              </a:spcAft>
              <a:buNone/>
            </a:pPr>
            <a:r>
              <a:rPr lang="en" sz="1200">
                <a:solidFill>
                  <a:srgbClr val="374151"/>
                </a:solidFill>
                <a:latin typeface="Roboto"/>
                <a:ea typeface="Roboto"/>
                <a:cs typeface="Roboto"/>
                <a:sym typeface="Roboto"/>
              </a:rPr>
              <a:t>The mobile application will allow the following functionalities:</a:t>
            </a:r>
            <a:endParaRPr sz="1200">
              <a:solidFill>
                <a:srgbClr val="374151"/>
              </a:solidFill>
              <a:latin typeface="Roboto"/>
              <a:ea typeface="Roboto"/>
              <a:cs typeface="Roboto"/>
              <a:sym typeface="Roboto"/>
            </a:endParaRPr>
          </a:p>
          <a:p>
            <a:pPr indent="-304800" lvl="0" marL="457200" rtl="0" algn="l">
              <a:spcBef>
                <a:spcPts val="150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Data entry for each gym customer including name, age, gender, date of birth (DOB), mobile number, email address, joining date, and payment date.</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Ability for the admin to add, edit, and delete customer records.</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Automated generation of alerts for subscription renewals and expirations via WhatsApp and email.</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Generation of warning messages for expired memberships.</a:t>
            </a:r>
            <a:endParaRPr sz="1200">
              <a:solidFill>
                <a:srgbClr val="374151"/>
              </a:solidFill>
              <a:latin typeface="Roboto"/>
              <a:ea typeface="Roboto"/>
              <a:cs typeface="Roboto"/>
              <a:sym typeface="Roboto"/>
            </a:endParaRPr>
          </a:p>
          <a:p>
            <a:pPr indent="0" lvl="0" marL="0" rtl="0" algn="l">
              <a:spcBef>
                <a:spcPts val="1500"/>
              </a:spcBef>
              <a:spcAft>
                <a:spcPts val="1200"/>
              </a:spcAft>
              <a:buNone/>
            </a:pPr>
            <a:r>
              <a:t/>
            </a:r>
            <a:endParaRPr sz="1200">
              <a:solidFill>
                <a:srgbClr val="37415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8"/>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Functional requirements: Customer data management -</a:t>
            </a:r>
            <a:endParaRPr/>
          </a:p>
        </p:txBody>
      </p:sp>
      <p:sp>
        <p:nvSpPr>
          <p:cNvPr id="165" name="Google Shape;165;p18"/>
          <p:cNvSpPr txBox="1"/>
          <p:nvPr>
            <p:ph idx="1" type="body"/>
          </p:nvPr>
        </p:nvSpPr>
        <p:spPr>
          <a:xfrm>
            <a:off x="1297500" y="1567550"/>
            <a:ext cx="7038900" cy="2911200"/>
          </a:xfrm>
          <a:prstGeom prst="rect">
            <a:avLst/>
          </a:prstGeom>
          <a:solidFill>
            <a:srgbClr val="B7B7B7"/>
          </a:solidFill>
        </p:spPr>
        <p:txBody>
          <a:bodyPr anchorCtr="0" anchor="t" bIns="91425" lIns="91425" spcFirstLastPara="1" rIns="91425" wrap="square" tIns="91425">
            <a:normAutofit/>
          </a:bodyPr>
          <a:lstStyle/>
          <a:p>
            <a:pPr indent="-304800" lvl="0" marL="457200" rtl="0" algn="l">
              <a:spcBef>
                <a:spcPts val="150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The application shall provide fields to enter customer information including name, age, gender, DOB, mobile number, email address, joining date, and payment date.</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Admin users shall have the ability to add, edit, and delete customer records.</a:t>
            </a:r>
            <a:endParaRPr sz="1200">
              <a:solidFill>
                <a:srgbClr val="374151"/>
              </a:solidFill>
              <a:latin typeface="Roboto"/>
              <a:ea typeface="Roboto"/>
              <a:cs typeface="Roboto"/>
              <a:sym typeface="Roboto"/>
            </a:endParaRPr>
          </a:p>
          <a:p>
            <a:pPr indent="0" lvl="0" marL="0" rtl="0" algn="l">
              <a:spcBef>
                <a:spcPts val="15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Subscription management:</a:t>
            </a:r>
            <a:endParaRPr/>
          </a:p>
        </p:txBody>
      </p:sp>
      <p:sp>
        <p:nvSpPr>
          <p:cNvPr id="171" name="Google Shape;171;p19"/>
          <p:cNvSpPr txBox="1"/>
          <p:nvPr>
            <p:ph idx="1" type="body"/>
          </p:nvPr>
        </p:nvSpPr>
        <p:spPr>
          <a:xfrm>
            <a:off x="1297500" y="1567550"/>
            <a:ext cx="7038900" cy="2911200"/>
          </a:xfrm>
          <a:prstGeom prst="rect">
            <a:avLst/>
          </a:prstGeom>
          <a:solidFill>
            <a:srgbClr val="B7B7B7"/>
          </a:solidFill>
        </p:spPr>
        <p:txBody>
          <a:bodyPr anchorCtr="0" anchor="t" bIns="91425" lIns="91425" spcFirstLastPara="1" rIns="91425" wrap="square" tIns="91425">
            <a:normAutofit/>
          </a:bodyPr>
          <a:lstStyle/>
          <a:p>
            <a:pPr indent="-304800" lvl="0" marL="457200" rtl="0" algn="l">
              <a:spcBef>
                <a:spcPts val="150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The application shall track subscription payment dates for each customer.</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Automated alerts shall be generated when a subscription is due for renewal, sent via WhatsApp and email.</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Warning messages shall be generated for expired memberships, specifying the expiration date.</a:t>
            </a:r>
            <a:endParaRPr sz="1200">
              <a:solidFill>
                <a:srgbClr val="374151"/>
              </a:solidFill>
              <a:latin typeface="Roboto"/>
              <a:ea typeface="Roboto"/>
              <a:cs typeface="Roboto"/>
              <a:sym typeface="Roboto"/>
            </a:endParaRPr>
          </a:p>
          <a:p>
            <a:pPr indent="0" lvl="0" marL="0" rtl="0" algn="l">
              <a:spcBef>
                <a:spcPts val="15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Non - functional requirement: Usability -</a:t>
            </a:r>
            <a:endParaRPr/>
          </a:p>
        </p:txBody>
      </p:sp>
      <p:sp>
        <p:nvSpPr>
          <p:cNvPr id="177" name="Google Shape;177;p20"/>
          <p:cNvSpPr txBox="1"/>
          <p:nvPr>
            <p:ph idx="1" type="body"/>
          </p:nvPr>
        </p:nvSpPr>
        <p:spPr>
          <a:xfrm>
            <a:off x="1297500" y="1567550"/>
            <a:ext cx="7038900" cy="2911200"/>
          </a:xfrm>
          <a:prstGeom prst="rect">
            <a:avLst/>
          </a:prstGeom>
          <a:solidFill>
            <a:srgbClr val="B7B7B7"/>
          </a:solidFill>
        </p:spPr>
        <p:txBody>
          <a:bodyPr anchorCtr="0" anchor="t" bIns="91425" lIns="91425" spcFirstLastPara="1" rIns="91425" wrap="square" tIns="91425">
            <a:normAutofit/>
          </a:bodyPr>
          <a:lstStyle/>
          <a:p>
            <a:pPr indent="-304800" lvl="0" marL="457200" rtl="0" algn="l">
              <a:spcBef>
                <a:spcPts val="150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The application shall have an intuitive user interface for easy navigation and data entry.</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The application shall provide clear instructions for admins on how to add, edit, and delete customer records.</a:t>
            </a:r>
            <a:endParaRPr sz="1200">
              <a:solidFill>
                <a:srgbClr val="374151"/>
              </a:solidFill>
              <a:latin typeface="Roboto"/>
              <a:ea typeface="Roboto"/>
              <a:cs typeface="Roboto"/>
              <a:sym typeface="Roboto"/>
            </a:endParaRPr>
          </a:p>
          <a:p>
            <a:pPr indent="0" lvl="0" marL="0" rtl="0" algn="l">
              <a:spcBef>
                <a:spcPts val="15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Performance:</a:t>
            </a:r>
            <a:endParaRPr/>
          </a:p>
        </p:txBody>
      </p:sp>
      <p:sp>
        <p:nvSpPr>
          <p:cNvPr id="183" name="Google Shape;183;p21"/>
          <p:cNvSpPr txBox="1"/>
          <p:nvPr>
            <p:ph idx="1" type="body"/>
          </p:nvPr>
        </p:nvSpPr>
        <p:spPr>
          <a:xfrm>
            <a:off x="1297500" y="1567550"/>
            <a:ext cx="7038900" cy="2911200"/>
          </a:xfrm>
          <a:prstGeom prst="rect">
            <a:avLst/>
          </a:prstGeom>
          <a:solidFill>
            <a:srgbClr val="B7B7B7"/>
          </a:solidFill>
        </p:spPr>
        <p:txBody>
          <a:bodyPr anchorCtr="0" anchor="t" bIns="91425" lIns="91425" spcFirstLastPara="1" rIns="91425" wrap="square" tIns="91425">
            <a:normAutofit/>
          </a:bodyPr>
          <a:lstStyle/>
          <a:p>
            <a:pPr indent="-304800" lvl="0" marL="457200" rtl="0" algn="l">
              <a:spcBef>
                <a:spcPts val="150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The application shall be responsive and load customer data promptly.</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Alerts and warning messages shall be sent without significant delay.</a:t>
            </a:r>
            <a:endParaRPr sz="1200">
              <a:solidFill>
                <a:srgbClr val="374151"/>
              </a:solidFill>
              <a:latin typeface="Roboto"/>
              <a:ea typeface="Roboto"/>
              <a:cs typeface="Roboto"/>
              <a:sym typeface="Roboto"/>
            </a:endParaRPr>
          </a:p>
          <a:p>
            <a:pPr indent="0" lvl="0" marL="0" rtl="0" algn="l">
              <a:spcBef>
                <a:spcPts val="15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Security:</a:t>
            </a:r>
            <a:endParaRPr/>
          </a:p>
        </p:txBody>
      </p:sp>
      <p:sp>
        <p:nvSpPr>
          <p:cNvPr id="189" name="Google Shape;189;p22"/>
          <p:cNvSpPr txBox="1"/>
          <p:nvPr>
            <p:ph idx="1" type="body"/>
          </p:nvPr>
        </p:nvSpPr>
        <p:spPr>
          <a:xfrm>
            <a:off x="1297500" y="1567550"/>
            <a:ext cx="7038900" cy="2911200"/>
          </a:xfrm>
          <a:prstGeom prst="rect">
            <a:avLst/>
          </a:prstGeom>
          <a:solidFill>
            <a:srgbClr val="B7B7B7"/>
          </a:solidFill>
        </p:spPr>
        <p:txBody>
          <a:bodyPr anchorCtr="0" anchor="t" bIns="91425" lIns="91425" spcFirstLastPara="1" rIns="91425" wrap="square" tIns="91425">
            <a:normAutofit/>
          </a:bodyPr>
          <a:lstStyle/>
          <a:p>
            <a:pPr indent="-304800" lvl="0" marL="457200" rtl="0" algn="l">
              <a:spcBef>
                <a:spcPts val="150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Customer data shall be stored securely and protected from unauthorized access.</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Communication channels for alerts (WhatsApp and email) shall be encrypted to ensure data privacy.</a:t>
            </a:r>
            <a:endParaRPr sz="1200">
              <a:solidFill>
                <a:srgbClr val="374151"/>
              </a:solidFill>
              <a:latin typeface="Roboto"/>
              <a:ea typeface="Roboto"/>
              <a:cs typeface="Roboto"/>
              <a:sym typeface="Roboto"/>
            </a:endParaRPr>
          </a:p>
          <a:p>
            <a:pPr indent="0" lvl="0" marL="0" rtl="0" algn="l">
              <a:spcBef>
                <a:spcPts val="15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Alerts and notifications:</a:t>
            </a:r>
            <a:endParaRPr/>
          </a:p>
        </p:txBody>
      </p:sp>
      <p:sp>
        <p:nvSpPr>
          <p:cNvPr id="195" name="Google Shape;195;p23"/>
          <p:cNvSpPr txBox="1"/>
          <p:nvPr>
            <p:ph idx="1" type="body"/>
          </p:nvPr>
        </p:nvSpPr>
        <p:spPr>
          <a:xfrm>
            <a:off x="1297500" y="1567550"/>
            <a:ext cx="7038900" cy="2911200"/>
          </a:xfrm>
          <a:prstGeom prst="rect">
            <a:avLst/>
          </a:prstGeom>
          <a:solidFill>
            <a:srgbClr val="B7B7B7"/>
          </a:solidFill>
        </p:spPr>
        <p:txBody>
          <a:bodyPr anchorCtr="0" anchor="t" bIns="91425" lIns="91425" spcFirstLastPara="1" rIns="91425" wrap="square" tIns="91425">
            <a:normAutofit/>
          </a:bodyPr>
          <a:lstStyle/>
          <a:p>
            <a:pPr indent="-304800" lvl="0" marL="457200" rtl="0" algn="l">
              <a:spcBef>
                <a:spcPts val="150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Subscription renewal alerts shall be sent to customers 7 days prior to the payment due date.</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Three reminders shall be sent at intervals of 3 days, 2 days, and 1 day before the subscription expiration date.</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Warning messages for expired memberships shall be sent immediately after the expiration date.</a:t>
            </a:r>
            <a:endParaRPr sz="1200">
              <a:solidFill>
                <a:srgbClr val="374151"/>
              </a:solidFill>
              <a:latin typeface="Roboto"/>
              <a:ea typeface="Roboto"/>
              <a:cs typeface="Roboto"/>
              <a:sym typeface="Roboto"/>
            </a:endParaRPr>
          </a:p>
          <a:p>
            <a:pPr indent="0" lvl="0" marL="0" rtl="0" algn="l">
              <a:spcBef>
                <a:spcPts val="15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Assumptions</a:t>
            </a:r>
            <a:r>
              <a:rPr lang="en"/>
              <a:t> and constraints:</a:t>
            </a:r>
            <a:endParaRPr/>
          </a:p>
        </p:txBody>
      </p:sp>
      <p:sp>
        <p:nvSpPr>
          <p:cNvPr id="201" name="Google Shape;201;p24"/>
          <p:cNvSpPr txBox="1"/>
          <p:nvPr>
            <p:ph idx="1" type="body"/>
          </p:nvPr>
        </p:nvSpPr>
        <p:spPr>
          <a:xfrm>
            <a:off x="1297500" y="1567550"/>
            <a:ext cx="7038900" cy="2911200"/>
          </a:xfrm>
          <a:prstGeom prst="rect">
            <a:avLst/>
          </a:prstGeom>
          <a:solidFill>
            <a:srgbClr val="B7B7B7"/>
          </a:solidFill>
        </p:spPr>
        <p:txBody>
          <a:bodyPr anchorCtr="0" anchor="t" bIns="91425" lIns="91425" spcFirstLastPara="1" rIns="91425" wrap="square" tIns="91425">
            <a:normAutofit/>
          </a:bodyPr>
          <a:lstStyle/>
          <a:p>
            <a:pPr indent="-304800" lvl="0" marL="457200" rtl="0" algn="l">
              <a:spcBef>
                <a:spcPts val="150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The application assumes that customers provide accurate contact information (WhatsApp number and email address).</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The application is constrained by the availability and reliability of internet connectivity for sending alerts and notifications.</a:t>
            </a:r>
            <a:endParaRPr sz="1200">
              <a:solidFill>
                <a:srgbClr val="374151"/>
              </a:solidFill>
              <a:latin typeface="Roboto"/>
              <a:ea typeface="Roboto"/>
              <a:cs typeface="Roboto"/>
              <a:sym typeface="Roboto"/>
            </a:endParaRPr>
          </a:p>
          <a:p>
            <a:pPr indent="0" lvl="0" marL="0" rtl="0" algn="l">
              <a:spcBef>
                <a:spcPts val="15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Future enhancement:</a:t>
            </a:r>
            <a:endParaRPr/>
          </a:p>
        </p:txBody>
      </p:sp>
      <p:sp>
        <p:nvSpPr>
          <p:cNvPr id="207" name="Google Shape;207;p25"/>
          <p:cNvSpPr txBox="1"/>
          <p:nvPr>
            <p:ph idx="1" type="body"/>
          </p:nvPr>
        </p:nvSpPr>
        <p:spPr>
          <a:xfrm>
            <a:off x="1297500" y="1567550"/>
            <a:ext cx="7038900" cy="2911200"/>
          </a:xfrm>
          <a:prstGeom prst="rect">
            <a:avLst/>
          </a:prstGeom>
          <a:solidFill>
            <a:srgbClr val="B7B7B7"/>
          </a:solidFill>
        </p:spPr>
        <p:txBody>
          <a:bodyPr anchorCtr="0" anchor="t" bIns="91425" lIns="91425" spcFirstLastPara="1" rIns="91425" wrap="square" tIns="91425">
            <a:normAutofit/>
          </a:bodyPr>
          <a:lstStyle/>
          <a:p>
            <a:pPr indent="-304800" lvl="0" marL="457200" rtl="0" algn="l">
              <a:spcBef>
                <a:spcPts val="150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Integration with a payment gateway for online subscription payments.</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Enhanced reporting functionalities for analyzing customer data and subscription trends.</a:t>
            </a:r>
            <a:endParaRPr sz="1200">
              <a:solidFill>
                <a:srgbClr val="374151"/>
              </a:solidFill>
              <a:latin typeface="Roboto"/>
              <a:ea typeface="Roboto"/>
              <a:cs typeface="Roboto"/>
              <a:sym typeface="Roboto"/>
            </a:endParaRPr>
          </a:p>
          <a:p>
            <a:pPr indent="0" lvl="0" marL="0" rtl="0" algn="l">
              <a:spcBef>
                <a:spcPts val="15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Acceptance criteria:</a:t>
            </a:r>
            <a:endParaRPr/>
          </a:p>
        </p:txBody>
      </p:sp>
      <p:sp>
        <p:nvSpPr>
          <p:cNvPr id="213" name="Google Shape;213;p26"/>
          <p:cNvSpPr txBox="1"/>
          <p:nvPr>
            <p:ph idx="1" type="body"/>
          </p:nvPr>
        </p:nvSpPr>
        <p:spPr>
          <a:xfrm>
            <a:off x="1297500" y="1567550"/>
            <a:ext cx="7038900" cy="2911200"/>
          </a:xfrm>
          <a:prstGeom prst="rect">
            <a:avLst/>
          </a:prstGeom>
          <a:solidFill>
            <a:srgbClr val="B7B7B7"/>
          </a:solidFill>
        </p:spPr>
        <p:txBody>
          <a:bodyPr anchorCtr="0" anchor="t" bIns="91425" lIns="91425" spcFirstLastPara="1" rIns="91425" wrap="square" tIns="91425">
            <a:normAutofit/>
          </a:bodyPr>
          <a:lstStyle/>
          <a:p>
            <a:pPr indent="-304800" lvl="0" marL="457200" rtl="0" algn="l">
              <a:spcBef>
                <a:spcPts val="150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The application shall successfully allow admins to add, edit, and delete customer records.</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Alerts and warning messages shall be sent to customers via WhatsApp and email as per the specified schedule.</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Customer data shall be securely stored and accessible only to authorized users.</a:t>
            </a:r>
            <a:endParaRPr sz="1200">
              <a:solidFill>
                <a:srgbClr val="374151"/>
              </a:solidFill>
              <a:latin typeface="Roboto"/>
              <a:ea typeface="Roboto"/>
              <a:cs typeface="Roboto"/>
              <a:sym typeface="Roboto"/>
            </a:endParaRPr>
          </a:p>
          <a:p>
            <a:pPr indent="0" lvl="0" marL="0" rtl="0" algn="l">
              <a:spcBef>
                <a:spcPts val="15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Glossary:</a:t>
            </a:r>
            <a:endParaRPr/>
          </a:p>
        </p:txBody>
      </p:sp>
      <p:sp>
        <p:nvSpPr>
          <p:cNvPr id="219" name="Google Shape;219;p27"/>
          <p:cNvSpPr txBox="1"/>
          <p:nvPr>
            <p:ph idx="1" type="body"/>
          </p:nvPr>
        </p:nvSpPr>
        <p:spPr>
          <a:xfrm>
            <a:off x="1297500" y="1567550"/>
            <a:ext cx="7038900" cy="2911200"/>
          </a:xfrm>
          <a:prstGeom prst="rect">
            <a:avLst/>
          </a:prstGeom>
          <a:solidFill>
            <a:srgbClr val="B7B7B7"/>
          </a:solidFill>
        </p:spPr>
        <p:txBody>
          <a:bodyPr anchorCtr="0" anchor="t" bIns="91425" lIns="91425" spcFirstLastPara="1" rIns="91425" wrap="square" tIns="91425">
            <a:normAutofit/>
          </a:bodyPr>
          <a:lstStyle/>
          <a:p>
            <a:pPr indent="-304800" lvl="0" marL="457200" rtl="0" algn="l">
              <a:spcBef>
                <a:spcPts val="150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Admin: Refers to the authorized user responsible for managing customer data within the application.</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Subscription: Refers to the membership subscription for gym services.</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Alert: Notification sent to customers regarding subscription renewals and expirations.</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Warning Message: Notification sent to customers for expired memberships.</a:t>
            </a:r>
            <a:endParaRPr sz="1200">
              <a:solidFill>
                <a:srgbClr val="374151"/>
              </a:solidFill>
              <a:latin typeface="Roboto"/>
              <a:ea typeface="Roboto"/>
              <a:cs typeface="Roboto"/>
              <a:sym typeface="Roboto"/>
            </a:endParaRPr>
          </a:p>
          <a:p>
            <a:pPr indent="0" lvl="0" marL="0" rtl="0" algn="l">
              <a:spcBef>
                <a:spcPts val="15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Revision history:</a:t>
            </a:r>
            <a:endParaRPr/>
          </a:p>
        </p:txBody>
      </p:sp>
      <p:sp>
        <p:nvSpPr>
          <p:cNvPr id="225" name="Google Shape;225;p28"/>
          <p:cNvSpPr txBox="1"/>
          <p:nvPr>
            <p:ph idx="1" type="body"/>
          </p:nvPr>
        </p:nvSpPr>
        <p:spPr>
          <a:xfrm>
            <a:off x="1297500" y="1567550"/>
            <a:ext cx="7038900" cy="2911200"/>
          </a:xfrm>
          <a:prstGeom prst="rect">
            <a:avLst/>
          </a:prstGeom>
          <a:solidFill>
            <a:srgbClr val="B7B7B7"/>
          </a:solidFill>
        </p:spPr>
        <p:txBody>
          <a:bodyPr anchorCtr="0" anchor="t" bIns="91425" lIns="91425" spcFirstLastPara="1" rIns="91425" wrap="square" tIns="91425">
            <a:normAutofit/>
          </a:bodyPr>
          <a:lstStyle/>
          <a:p>
            <a:pPr indent="-304800" lvl="0" marL="457200" rtl="0" algn="l">
              <a:spcBef>
                <a:spcPts val="150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Version 1.0: Initial draft.</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lang="en" sz="1200">
                <a:solidFill>
                  <a:srgbClr val="374151"/>
                </a:solidFill>
                <a:latin typeface="Roboto"/>
                <a:ea typeface="Roboto"/>
                <a:cs typeface="Roboto"/>
                <a:sym typeface="Roboto"/>
              </a:rPr>
              <a:t>Version 1.1: Updated based on feedback from stakeholders.</a:t>
            </a:r>
            <a:endParaRPr sz="1200">
              <a:solidFill>
                <a:srgbClr val="374151"/>
              </a:solidFill>
              <a:latin typeface="Roboto"/>
              <a:ea typeface="Roboto"/>
              <a:cs typeface="Roboto"/>
              <a:sym typeface="Roboto"/>
            </a:endParaRPr>
          </a:p>
          <a:p>
            <a:pPr indent="0" lvl="0" marL="0" rtl="0" algn="l">
              <a:spcBef>
                <a:spcPts val="15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